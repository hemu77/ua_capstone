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577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2F8FF"/>
                </a:solidFill>
                <a:latin typeface="Aptos"/>
              </a:defRPr>
            </a:pPr>
            <a:r>
              <a:t>LLMs as Social Network Generators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9047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2C3D6"/>
                </a:solidFill>
                <a:latin typeface="Aptos"/>
              </a:defRPr>
            </a:pPr>
            <a:r>
              <a:t>How model choice, culture, prompt language, and generation method reshape synthetic friendship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2186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fixed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2743200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3512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D26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656" y="32186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generation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30752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C84FF"/>
                </a:solidFill>
                <a:latin typeface="Aptos"/>
              </a:defRPr>
            </a:pPr>
            <a:r>
              <a:t>3 + 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206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new GPT-4.1 family plus base-model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13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266"/>
                </a:solidFill>
                <a:latin typeface="Aptos"/>
              </a:defRPr>
            </a:pPr>
            <a:r>
              <a:t>Core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160520"/>
            <a:ext cx="3337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2F8FF"/>
                </a:solidFill>
                <a:latin typeface="Aptos"/>
              </a:defRPr>
            </a:pPr>
            <a:r>
              <a:t>LLMs can generate plausible social networks, but the final graph is shaped by prompt context, model choice, and generation procedure.</a:t>
            </a:r>
          </a:p>
        </p:txBody>
      </p:sp>
      <p:pic>
        <p:nvPicPr>
          <p:cNvPr id="15" name="Picture 14" descr="persona_bonding_visual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94360"/>
            <a:ext cx="5166360" cy="2907792"/>
          </a:xfrm>
          <a:prstGeom prst="rect">
            <a:avLst/>
          </a:prstGeom>
        </p:spPr>
      </p:pic>
      <p:pic>
        <p:nvPicPr>
          <p:cNvPr id="16" name="Picture 15" descr="method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51663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The Story In One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From older model baselines to our controlled capstone extension.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66360" cy="150876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Base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8FF"/>
                </a:solidFill>
                <a:latin typeface="Aptos"/>
              </a:defRPr>
            </a:pPr>
            <a:r>
              <a:t>LLMs generated friendship graphs and compared homophily/topology against real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150876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Older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8FF"/>
                </a:solidFill>
                <a:latin typeface="Aptos"/>
              </a:defRPr>
            </a:pPr>
            <a:r>
              <a:t>Sequential baselines exist for GPT-3.5, GPT-4o, Llama 3.1, and Gemma2 variants.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5166360" cy="150876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9651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8FF"/>
                </a:solidFill>
                <a:latin typeface="Aptos"/>
              </a:defRPr>
            </a:pPr>
            <a:r>
              <a:t>We reused one fixed 50-person roster and varied culture, method, model, and prompt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74720"/>
            <a:ext cx="5166360" cy="150876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D266"/>
                </a:solidFill>
                <a:latin typeface="Aptos"/>
              </a:defRPr>
            </a:pPr>
            <a:r>
              <a:t>Final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9651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8FF"/>
                </a:solidFill>
                <a:latin typeface="Aptos"/>
              </a:defRPr>
            </a:pPr>
            <a:r>
              <a:t>Generated networks are structurally sensitive: political homophily dominates often, but culture, language, method, and model shift the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Synthetic social networks are useful only if we understand their hidden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2F8FF"/>
                </a:solidFill>
                <a:latin typeface="Aptos"/>
              </a:defRPr>
            </a:pPr>
            <a:r>
              <a:t>LLM-generated agents are increasingly used for simulations, games, education, and social-science experiments.</a:t>
            </a:r>
          </a:p>
          <a:p>
            <a:pPr>
              <a:spcAft>
                <a:spcPts val="800"/>
              </a:spcAft>
              <a:defRPr sz="2200">
                <a:solidFill>
                  <a:srgbClr val="F2F8FF"/>
                </a:solidFill>
                <a:latin typeface="Aptos"/>
              </a:defRPr>
            </a:pPr>
            <a:r>
              <a:t>But a network is more than a list of personas: the model decides who connects to whom.</a:t>
            </a:r>
          </a:p>
          <a:p>
            <a:pPr>
              <a:spcAft>
                <a:spcPts val="800"/>
              </a:spcAft>
              <a:defRPr sz="2200">
                <a:solidFill>
                  <a:srgbClr val="F2F8FF"/>
                </a:solidFill>
                <a:latin typeface="Aptos"/>
              </a:defRPr>
            </a:pPr>
            <a:r>
              <a:t>Small prompt/model changes can shift homophily, density, connected components, and community structure.</a:t>
            </a:r>
          </a:p>
          <a:p>
            <a:pPr>
              <a:spcAft>
                <a:spcPts val="800"/>
              </a:spcAft>
              <a:defRPr sz="2200">
                <a:solidFill>
                  <a:srgbClr val="F2F8FF"/>
                </a:solidFill>
                <a:latin typeface="Aptos"/>
              </a:defRPr>
            </a:pPr>
            <a:r>
              <a:t>So the research question is about reliability: when do generated social networks stay stable, and when do they change?</a:t>
            </a:r>
          </a:p>
        </p:txBody>
      </p:sp>
      <p:pic>
        <p:nvPicPr>
          <p:cNvPr id="6" name="Picture 5" descr="persona_bonding_visual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5074920" cy="2852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266"/>
                </a:solidFill>
                <a:latin typeface="Aptos"/>
              </a:defRPr>
            </a:pPr>
            <a:r>
              <a:t>Presentation phrase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983480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2F8FF"/>
                </a:solidFill>
                <a:latin typeface="Aptos"/>
              </a:defRPr>
            </a:pPr>
            <a:r>
              <a:t>"The important output is not just 50 personas. It is the relationship structure the model builds between them."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What Was Already In The Base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Older work established the network-generation problem and produced baseline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00600" cy="3703320"/>
          </a:xfrm>
          <a:prstGeom prst="roundRect">
            <a:avLst/>
          </a:prstGeom>
          <a:solidFill>
            <a:srgbClr val="0B1626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D266"/>
                </a:solidFill>
                <a:latin typeface="Aptos"/>
              </a:defRPr>
            </a:pPr>
            <a:r>
              <a:t>Base / older model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206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2F8FF"/>
                </a:solidFill>
                <a:latin typeface="Aptos"/>
              </a:defRPr>
            </a:pPr>
            <a:r>
              <a:t>Original framing: LLMs generate social networks and can overestimate political homophily.</a:t>
            </a:r>
          </a:p>
          <a:p>
            <a:pPr>
              <a:spcAft>
                <a:spcPts val="600"/>
              </a:spcAft>
              <a:defRPr sz="1700">
                <a:solidFill>
                  <a:srgbClr val="F2F8FF"/>
                </a:solidFill>
                <a:latin typeface="Aptos"/>
              </a:defRPr>
            </a:pPr>
            <a:r>
              <a:t>Existing sequential outputs: GPT-3.5, GPT-4o, Llama 3.1 8B/70B, and Gemma2 9B/27B.</a:t>
            </a:r>
          </a:p>
          <a:p>
            <a:pPr>
              <a:spcAft>
                <a:spcPts val="600"/>
              </a:spcAft>
              <a:defRPr sz="1700">
                <a:solidFill>
                  <a:srgbClr val="F2F8FF"/>
                </a:solidFill>
                <a:latin typeface="Aptos"/>
              </a:defRPr>
            </a:pPr>
            <a:r>
              <a:t>Those outputs give comparison context, but not the full capstone matrix.</a:t>
            </a:r>
          </a:p>
        </p:txBody>
      </p:sp>
      <p:pic>
        <p:nvPicPr>
          <p:cNvPr id="8" name="Picture 7" descr="older_vs_new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4440"/>
            <a:ext cx="5897880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5230368"/>
            <a:ext cx="11018520" cy="86868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223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DE8D6"/>
                </a:solidFill>
                <a:latin typeface="Aptos"/>
              </a:defRPr>
            </a:pPr>
            <a:r>
              <a:t>How our project differs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3766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2F8FF"/>
                </a:solidFill>
                <a:latin typeface="Aptos"/>
              </a:defRPr>
            </a:pPr>
            <a:r>
              <a:t>We converted the repo into a controlled study: same personas, multiple cultures, all four methods, multiple GPT-4.1 model sizes, and fixed-culture language experiments.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Our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What we added to the older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828800" cy="6858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234440"/>
            <a:ext cx="8641080" cy="68580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380744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2F8FF"/>
                </a:solidFill>
                <a:latin typeface="Aptos"/>
              </a:defRPr>
            </a:pPr>
            <a:r>
              <a:t>Made the repo runnable with OpenAI-only setup and repaired path/plotting issues.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828800" cy="6858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103120"/>
            <a:ext cx="8641080" cy="68580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249424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2F8FF"/>
                </a:solidFill>
                <a:latin typeface="Aptos"/>
              </a:defRPr>
            </a:pPr>
            <a:r>
              <a:t>Added cultural context: US, India, Japan, Brazil with language fixed to English.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1828800" cy="6858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36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971800"/>
            <a:ext cx="8641080" cy="68580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118104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2F8FF"/>
                </a:solidFill>
                <a:latin typeface="Aptos"/>
              </a:defRPr>
            </a:pPr>
            <a:r>
              <a:t>Expanded from sequential to four methods: sequential, global, local, iterative.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828800" cy="6858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Step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840480"/>
            <a:ext cx="8641080" cy="68580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986784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2F8FF"/>
                </a:solidFill>
                <a:latin typeface="Aptos"/>
              </a:defRPr>
            </a:pPr>
            <a:r>
              <a:t>Added prompt-language study: English, Spanish, Hindi, Japanese with culture fixed to 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9160"/>
            <a:ext cx="1828800" cy="6858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73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709160"/>
            <a:ext cx="8641080" cy="68580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855464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2F8FF"/>
                </a:solidFill>
                <a:latin typeface="Aptos"/>
              </a:defRPr>
            </a:pPr>
            <a:r>
              <a:t>Checked generated graph files, PNGs, homophily, metrics, node counts, and edge sanity.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Dataset: The Same 50 Personas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Using one fixed roster isolates the experimental variable.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" name="Picture 4" descr="persona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486400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41732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Roster file: text-files/us_50_gpt4o_w_interests.json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Each persona includes gender, age, race/ethnicity, religion, political affiliation, and interests.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The same 50 personas are reused across all new studies.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That means differences are caused by prompt context, model, method, or language - not by changing the people.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How the project turns people into measurable networks.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057400" cy="11430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1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8FF"/>
                </a:solidFill>
                <a:latin typeface="Aptos"/>
              </a:defRPr>
            </a:pPr>
            <a:r>
              <a:t>fixed 50-person roster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359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2C3D6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2057400" cy="11430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128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2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334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8FF"/>
                </a:solidFill>
                <a:latin typeface="Aptos"/>
              </a:defRPr>
            </a:pPr>
            <a:r>
              <a:t>culture, language, method,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59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2C3D6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011680"/>
            <a:ext cx="2057400" cy="11430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2128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3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334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8FF"/>
                </a:solidFill>
                <a:latin typeface="Aptos"/>
              </a:defRPr>
            </a:pPr>
            <a:r>
              <a:t>.adj friendship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59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2C3D6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011680"/>
            <a:ext cx="2057400" cy="11430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2128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DE8D6"/>
                </a:solidFill>
                <a:latin typeface="Aptos"/>
              </a:defRPr>
            </a:pPr>
            <a:r>
              <a:t>4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6334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8FF"/>
                </a:solidFill>
                <a:latin typeface="Aptos"/>
              </a:defRPr>
            </a:pPr>
            <a:r>
              <a:t>homophily + topology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359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2C3D6"/>
                </a:solidFill>
                <a:latin typeface="Aptos"/>
              </a:defRPr>
            </a:pPr>
            <a: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011680"/>
            <a:ext cx="2057400" cy="114300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2128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266"/>
                </a:solidFill>
                <a:latin typeface="Aptos"/>
              </a:defRPr>
            </a:pPr>
            <a:r>
              <a:t>5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63347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8FF"/>
                </a:solidFill>
                <a:latin typeface="Aptos"/>
              </a:defRPr>
            </a:pPr>
            <a:r>
              <a:t>four research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39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Homophily: do people connect more often to similar people than expected?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Topology: density, clustering, connected component size, modularity, path length.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Model divergence: edge distance between generated graphs under matched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Experiment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The capstone study is controlled but broad.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470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cultures: US, India, Japan, Brazil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371600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D26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8470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methods: sequential, global, local, iterative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371600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C84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18470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GPT-4.1 model sizes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371600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6E6A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8664" y="18470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prompt languages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371600"/>
            <a:ext cx="2011680" cy="8229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7159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38944" y="18470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C3D6"/>
                </a:solidFill>
                <a:latin typeface="Aptos"/>
              </a:defRPr>
            </a:pPr>
            <a:r>
              <a:t>verified generated graphs in Steps 2-4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D266"/>
                </a:solidFill>
                <a:latin typeface="Aptos"/>
              </a:defRPr>
            </a:pPr>
            <a:r>
              <a:t>Verification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3756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Step 2 cultural study: 24/24 graph conditions passed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Step 3 method expansion: 72/72 graph conditions passed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Step 4 language study: 96/96 graph conditions 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5DE8D6"/>
                </a:solidFill>
                <a:latin typeface="Aptos"/>
              </a:defRPr>
            </a:pPr>
            <a:r>
              <a:t>Design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375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RQ1-RQ3 combine sequential baseline with the method expansion.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RQ4 fixes culture to US, then varies prompt language.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All studies reuse the same 50-person roster.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The Four Generation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Different prompting procedures create different graph structures.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74920" cy="100584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8FF"/>
                </a:solidFill>
                <a:latin typeface="Aptos"/>
              </a:defRPr>
            </a:pPr>
            <a:r>
              <a:t>People choose friends one at a time as the network grows.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074920" cy="100584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8FF"/>
                </a:solidFill>
                <a:latin typeface="Aptos"/>
              </a:defRPr>
            </a:pPr>
            <a:r>
              <a:t>The model proposes friendship pairs for the whole network at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5074920" cy="100584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8D6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8FF"/>
                </a:solidFill>
                <a:latin typeface="Aptos"/>
              </a:defRPr>
            </a:pPr>
            <a:r>
              <a:t>Each focal person chooses friends from candidates without full sequential buildup.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743200"/>
            <a:ext cx="5074920" cy="100584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D266"/>
                </a:solidFill>
                <a:latin typeface="Aptos"/>
              </a:defRPr>
            </a:pPr>
            <a:r>
              <a:t>Iterative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2F8FF"/>
                </a:solidFill>
                <a:latin typeface="Aptos"/>
              </a:defRPr>
            </a:pPr>
            <a:r>
              <a:t>The network is revised through add/drop style friendship updates.</a:t>
            </a:r>
          </a:p>
        </p:txBody>
      </p:sp>
      <p:pic>
        <p:nvPicPr>
          <p:cNvPr id="17" name="Picture 16" descr="method_co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251960"/>
            <a:ext cx="996696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RQ1: Does Cultural Context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Yes. Holding language fixed to English, culture still changed homophily and topology.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culture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760720" cy="254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325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D266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8308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Largest culture-driven homophily shift: political affiliation, same-ratio range 0.874.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Largest topology shift: proportion of nodes in the largest connected component, range 0.500.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Plain meaning: changing only the cultural frame changed who clustered with whom and how connected the graph became.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5DE8D6"/>
                </a:solidFill>
                <a:latin typeface="Aptos"/>
              </a:defRPr>
            </a:pPr>
            <a:r>
              <a:t>Presenter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2F8FF"/>
                </a:solidFill>
                <a:latin typeface="Aptos"/>
              </a:defRPr>
            </a:pPr>
            <a:r>
              <a:t>"Culture was not cosmetic. It changed the generated social structure even when the language stayed English."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RQ2: Which Demographics Dominate Tie Formation?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Political affiliation is the strongest recurring signal, with an important global-method exception.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dominant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0432"/>
            <a:ext cx="5486400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417320"/>
            <a:ext cx="4800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Across the English-language cultural study, political affiliation was the most frequent top-ranked homophily dimension.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Across the fixed-culture language study, political affiliation remained the most frequent strongest dimension.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After adding all methods, the result became more nuanced: global often elevated age, while local, sequential, and iterative more often elevated political affiliation.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D266"/>
                </a:solidFill>
                <a:latin typeface="Aptos"/>
              </a:defRPr>
            </a:pPr>
            <a:r>
              <a:t>Plain-language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852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2F8FF"/>
                </a:solidFill>
                <a:latin typeface="Aptos"/>
              </a:defRPr>
            </a:pPr>
            <a:r>
              <a:t>Usually, the model formed friendships around political similarity more than the other demographic dimensions, but the prompting method can change which signal rises to the top.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RQ3: Are Models Interchangeable?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No. Model size changed the generated edge set in a repeatable 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model_divergen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943600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1234440"/>
            <a:ext cx="4343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Closest pair in cultural study: GPT-4.1 vs GPT-4.1-mini, edge distance 0.086.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Closest pair in method study: GPT-4.1 vs GPT-4.1-mini, edge distance 0.074.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Closest pair in language study: GPT-4.1 vs GPT-4.1-mini, edge distance 0.081.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Farthest pair in all three: GPT-4.1 vs GPT-4.1-nano.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4370832"/>
            <a:ext cx="4617720" cy="150876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26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4919472"/>
            <a:ext cx="40416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2F8FF"/>
                </a:solidFill>
                <a:latin typeface="Aptos"/>
              </a:defRPr>
            </a:pPr>
            <a:r>
              <a:t>Nano is the outlier. GPT-4.1 and GPT-4.1-mini stay closest across culture, method, and language studies.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RQ4: Does Prompt Language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Yes. With culture fixed to US, language still changed homophily and topology.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5" name="Picture 4" descr="language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89788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325880"/>
            <a:ext cx="4663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Largest language-driven homophily shift: religion, range 1.502.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Largest topology shift: prop_nodes_lcc, range 0.740.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Closest language pair: Hindi vs Japanese, edge distance 0.079.</a:t>
            </a:r>
          </a:p>
          <a:p>
            <a:pPr>
              <a:spcAft>
                <a:spcPts val="800"/>
              </a:spcAft>
              <a:defRPr sz="2000">
                <a:solidFill>
                  <a:srgbClr val="F2F8FF"/>
                </a:solidFill>
                <a:latin typeface="Aptos"/>
              </a:defRPr>
            </a:pPr>
            <a:r>
              <a:t>Farthest language pair: Japanese vs Spanish, edge distance 0.088.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D266"/>
                </a:solidFill>
                <a:latin typeface="Aptos"/>
              </a:defRPr>
            </a:pPr>
            <a:r>
              <a:t>Plain-language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120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2F8FF"/>
                </a:solidFill>
                <a:latin typeface="Aptos"/>
              </a:defRPr>
            </a:pPr>
            <a:r>
              <a:t>Even when the people and culture stayed fixed, changing the language of the prompt changed the network that came 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Method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The generation procedure changes network density and connectedness.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5" name="Picture 4" descr="method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12064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14173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Global is sparsest: average density 0.056.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Iterative is densest: average density 0.182.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Local is close to iterative: average density 0.179.</a:t>
            </a:r>
          </a:p>
          <a:p>
            <a:pPr>
              <a:spcAft>
                <a:spcPts val="800"/>
              </a:spcAft>
              <a:defRPr sz="2100">
                <a:solidFill>
                  <a:srgbClr val="F2F8FF"/>
                </a:solidFill>
                <a:latin typeface="Aptos"/>
              </a:defRPr>
            </a:pPr>
            <a:r>
              <a:t>This means methods are not neutral wrappers around the same model; the asking procedure shapes the graph.</a:t>
            </a:r>
          </a:p>
        </p:txBody>
      </p:sp>
      <p:pic>
        <p:nvPicPr>
          <p:cNvPr id="7" name="Picture 6" descr="method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26280"/>
            <a:ext cx="1014984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Live Demo Slide: Personas Become Bonds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Use this when presenting the visual animation.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5" name="Picture 4" descr="persona_bonding_visual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7589520" cy="4270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143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D266"/>
                </a:solidFill>
                <a:latin typeface="Aptos"/>
              </a:defRPr>
            </a:pPr>
            <a:r>
              <a:t>Say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600200"/>
            <a:ext cx="33375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2F8FF"/>
                </a:solidFill>
                <a:latin typeface="Aptos"/>
              </a:defRPr>
            </a:pPr>
            <a:r>
              <a:t>First, the model receives 50 synthetic personas.</a:t>
            </a:r>
          </a:p>
          <a:p>
            <a:pPr>
              <a:spcAft>
                <a:spcPts val="800"/>
              </a:spcAft>
              <a:defRPr sz="1900">
                <a:solidFill>
                  <a:srgbClr val="F2F8FF"/>
                </a:solidFill>
                <a:latin typeface="Aptos"/>
              </a:defRPr>
            </a:pPr>
            <a:r>
              <a:t>Then it chooses friendship bonds.</a:t>
            </a:r>
          </a:p>
          <a:p>
            <a:pPr>
              <a:spcAft>
                <a:spcPts val="800"/>
              </a:spcAft>
              <a:defRPr sz="1900">
                <a:solidFill>
                  <a:srgbClr val="F2F8FF"/>
                </a:solidFill>
                <a:latin typeface="Aptos"/>
              </a:defRPr>
            </a:pPr>
            <a:r>
              <a:t>The final graph contains hubs, clusters, and bridge people.</a:t>
            </a:r>
          </a:p>
          <a:p>
            <a:pPr>
              <a:spcAft>
                <a:spcPts val="800"/>
              </a:spcAft>
              <a:defRPr sz="1900">
                <a:solidFill>
                  <a:srgbClr val="F2F8FF"/>
                </a:solidFill>
                <a:latin typeface="Aptos"/>
              </a:defRPr>
            </a:pPr>
            <a:r>
              <a:t>So the project studies generated social interaction, not only generated identities.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5230368"/>
            <a:ext cx="3246120" cy="566928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5413248"/>
            <a:ext cx="2880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DE8D6"/>
                </a:solidFill>
                <a:latin typeface="Aptos"/>
              </a:defRPr>
            </a:pPr>
            <a:r>
              <a:t>Optional: play the MP4 animation after this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Final Answers To The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The shortest version to say out 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2331720" cy="73152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5DE8D6"/>
                </a:solidFill>
                <a:latin typeface="Aptos"/>
              </a:defRPr>
            </a:pPr>
            <a:r>
              <a:t>RQ1 Culture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7818120" cy="7315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399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2F8FF"/>
                </a:solidFill>
                <a:latin typeface="Aptos"/>
              </a:defRPr>
            </a:pPr>
            <a:r>
              <a:t>Yes: culture changes both homophily and topology.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2331720" cy="73152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5DE8D6"/>
                </a:solidFill>
                <a:latin typeface="Aptos"/>
              </a:defRPr>
            </a:pPr>
            <a:r>
              <a:t>RQ2 Demographics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377440"/>
            <a:ext cx="7818120" cy="7315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542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2F8FF"/>
                </a:solidFill>
                <a:latin typeface="Aptos"/>
              </a:defRPr>
            </a:pPr>
            <a:r>
              <a:t>Political affiliation is usually the strongest tie-formation signal; global often elevates 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40"/>
            <a:ext cx="2331720" cy="73152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5DE8D6"/>
                </a:solidFill>
                <a:latin typeface="Aptos"/>
              </a:defRPr>
            </a:pPr>
            <a:r>
              <a:t>RQ3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520440"/>
            <a:ext cx="7818120" cy="7315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3685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2F8FF"/>
                </a:solidFill>
                <a:latin typeface="Aptos"/>
              </a:defRPr>
            </a:pPr>
            <a:r>
              <a:t>The models are not interchangeable. GPT-4.1 and mini are closest; nano diverges most.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63440"/>
            <a:ext cx="2331720" cy="731520"/>
          </a:xfrm>
          <a:prstGeom prst="roundRect">
            <a:avLst/>
          </a:prstGeom>
          <a:solidFill>
            <a:srgbClr val="0E1A2A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D266"/>
                </a:solidFill>
                <a:latin typeface="Aptos"/>
              </a:defRPr>
            </a:pPr>
            <a:r>
              <a:t>RQ4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663440"/>
            <a:ext cx="7818120" cy="731520"/>
          </a:xfrm>
          <a:prstGeom prst="roundRect">
            <a:avLst/>
          </a:prstGeom>
          <a:solidFill>
            <a:srgbClr val="121E30"/>
          </a:solidFill>
          <a:ln w="12700">
            <a:solidFill>
              <a:srgbClr val="374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4828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2F8FF"/>
                </a:solidFill>
                <a:latin typeface="Aptos"/>
              </a:defRPr>
            </a:pPr>
            <a:r>
              <a:t>Yes: even with culture fixed, prompt language changes homophily and graph structure.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Limitations And Why They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Shows you understand what the results do and do not prove.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2F8FF"/>
                </a:solidFill>
                <a:latin typeface="Aptos"/>
              </a:defRPr>
            </a:pPr>
            <a:r>
              <a:t>These are synthetic networks, not real friendship networks.</a:t>
            </a:r>
          </a:p>
          <a:p>
            <a:pPr>
              <a:spcAft>
                <a:spcPts val="1000"/>
              </a:spcAft>
              <a:defRPr sz="2300">
                <a:solidFill>
                  <a:srgbClr val="F2F8FF"/>
                </a:solidFill>
                <a:latin typeface="Aptos"/>
              </a:defRPr>
            </a:pPr>
            <a:r>
              <a:t>The fixed 50-person roster is useful for control, but it is still one roster.</a:t>
            </a:r>
          </a:p>
          <a:p>
            <a:pPr>
              <a:spcAft>
                <a:spcPts val="1000"/>
              </a:spcAft>
              <a:defRPr sz="2300">
                <a:solidFill>
                  <a:srgbClr val="F2F8FF"/>
                </a:solidFill>
                <a:latin typeface="Aptos"/>
              </a:defRPr>
            </a:pPr>
            <a:r>
              <a:t>Two seeds per condition give repeatability evidence, but more seeds would strengthen estimates.</a:t>
            </a:r>
          </a:p>
          <a:p>
            <a:pPr>
              <a:spcAft>
                <a:spcPts val="1000"/>
              </a:spcAft>
              <a:defRPr sz="2300">
                <a:solidFill>
                  <a:srgbClr val="F2F8FF"/>
                </a:solidFill>
                <a:latin typeface="Aptos"/>
              </a:defRPr>
            </a:pPr>
            <a:r>
              <a:t>Prompt wording and model provider behavior can change over time.</a:t>
            </a:r>
          </a:p>
          <a:p>
            <a:pPr>
              <a:spcAft>
                <a:spcPts val="1000"/>
              </a:spcAft>
              <a:defRPr sz="2300">
                <a:solidFill>
                  <a:srgbClr val="F2F8FF"/>
                </a:solidFill>
                <a:latin typeface="Aptos"/>
              </a:defRPr>
            </a:pPr>
            <a:r>
              <a:t>The findings are best interpreted as model behavior under controlled prompts, not as claims about real human societies.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D266"/>
                </a:solidFill>
                <a:latin typeface="Aptos"/>
              </a:defRPr>
            </a:pPr>
            <a:r>
              <a:t>Strong closing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618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2F8FF"/>
                </a:solidFill>
                <a:latin typeface="Aptos"/>
              </a:defRPr>
            </a:pPr>
            <a:r>
              <a:t>The value of this project is that it measures those sensitivities instead of hiding them.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2F8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2C3D6"/>
                </a:solidFill>
                <a:latin typeface="Aptos"/>
              </a:defRPr>
            </a:pPr>
            <a:r>
              <a:t>Generated networks are powerful, but they are not neutral.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31168" y="64739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E829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266"/>
                </a:solidFill>
                <a:latin typeface="Aptos"/>
              </a:defRPr>
            </a:pPr>
            <a:r>
              <a:t>Main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2F8FF"/>
                </a:solidFill>
                <a:latin typeface="Aptos"/>
              </a:defRPr>
            </a:pPr>
            <a:r>
              <a:t>LLMs can create structurally plausible social networks, but culture, language, method, and model choice reshape who becomes connected to whom.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9875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2F8FF"/>
                </a:solidFill>
                <a:latin typeface="Aptos"/>
              </a:defRPr>
            </a:pPr>
            <a:r>
              <a:t>Base repo: established the network-generation problem with older model outputs.</a:t>
            </a:r>
          </a:p>
          <a:p>
            <a:pPr>
              <a:spcAft>
                <a:spcPts val="1000"/>
              </a:spcAft>
              <a:defRPr sz="2200">
                <a:solidFill>
                  <a:srgbClr val="F2F8FF"/>
                </a:solidFill>
                <a:latin typeface="Aptos"/>
              </a:defRPr>
            </a:pPr>
            <a:r>
              <a:t>Our work: extended it into a controlled capstone matrix.</a:t>
            </a:r>
          </a:p>
          <a:p>
            <a:pPr>
              <a:spcAft>
                <a:spcPts val="1000"/>
              </a:spcAft>
              <a:defRPr sz="2200">
                <a:solidFill>
                  <a:srgbClr val="F2F8FF"/>
                </a:solidFill>
                <a:latin typeface="Aptos"/>
              </a:defRPr>
            </a:pPr>
            <a:r>
              <a:t>Final result: the same personas can produce meaningfully different social structures depending on the experimental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DE8D6"/>
                </a:solidFill>
                <a:latin typeface="Aptos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